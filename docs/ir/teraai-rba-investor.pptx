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8229600" y="0"/>
            <a:ext cx="39620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1051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TERRA AI  ·  INVESTOR BRIEF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66928" y="1554480"/>
            <a:ext cx="73152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펫캠 영상을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일지로 바꾸는 AI</a:t>
            </a:r>
            <a:endParaRPr lang="en-US" sz="4600" dirty="0"/>
          </a:p>
        </p:txBody>
      </p:sp>
      <p:sp>
        <p:nvSpPr>
          <p:cNvPr id="5" name="Text 2"/>
          <p:cNvSpPr/>
          <p:nvPr/>
        </p:nvSpPr>
        <p:spPr>
          <a:xfrm>
            <a:off x="566928" y="361188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</a:t>
            </a:r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— 파충류 행동 분석 AI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566928" y="4160520"/>
            <a:ext cx="7040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단순 펫캠 기능이나 고정 알고리즘이 아니라, 밤사이 영상을 행동 타임라인과 아침 활동 보고서로 바꾸는 파충류 특화 AI 분석 엔진.</a:t>
            </a:r>
            <a:endParaRPr lang="en-US" sz="1450" dirty="0"/>
          </a:p>
        </p:txBody>
      </p:sp>
      <p:sp>
        <p:nvSpPr>
          <p:cNvPr id="7" name="Text 4"/>
          <p:cNvSpPr/>
          <p:nvPr/>
        </p:nvSpPr>
        <p:spPr>
          <a:xfrm>
            <a:off x="566928" y="61264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Reptile Behavior Analysis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6766560" y="612648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01 · 분석 파이프라인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 분석 파이프라인 — 영상에서 아침 활동 보고서까지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펫캠 영상을 수집 · 1차 판독 · 정밀 판독 3단계로 처리해, 아침 활동 보고서로 전달한다.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01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1323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71323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수집 · 저장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749808" y="276148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76148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· 밤사이 RTSP</a:t>
            </a:r>
            <a:endParaRPr lang="en-US" sz="1080" dirty="0"/>
          </a:p>
        </p:txBody>
      </p:sp>
      <p:sp>
        <p:nvSpPr>
          <p:cNvPr id="11" name="Shape 9"/>
          <p:cNvSpPr/>
          <p:nvPr/>
        </p:nvSpPr>
        <p:spPr>
          <a:xfrm>
            <a:off x="749808" y="358444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86384" y="358444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334155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클립 선별 (Motion)</a:t>
            </a:r>
            <a:endParaRPr lang="en-US" sz="1080" dirty="0"/>
          </a:p>
        </p:txBody>
      </p:sp>
      <p:sp>
        <p:nvSpPr>
          <p:cNvPr id="13" name="Text 11"/>
          <p:cNvSpPr/>
          <p:nvPr/>
        </p:nvSpPr>
        <p:spPr>
          <a:xfrm>
            <a:off x="1594828" y="32918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2988488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344568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59199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7" name="Text 15"/>
          <p:cNvSpPr/>
          <p:nvPr/>
        </p:nvSpPr>
        <p:spPr>
          <a:xfrm>
            <a:off x="359199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Track A · 1차 판독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628568" y="276148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65144" y="276148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Zero-shot VLM 전수 판독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3628568" y="358444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65144" y="358444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+ 자기확신 점수</a:t>
            </a:r>
            <a:endParaRPr lang="en-US" sz="1080" dirty="0"/>
          </a:p>
        </p:txBody>
      </p:sp>
      <p:sp>
        <p:nvSpPr>
          <p:cNvPr id="22" name="Text 20"/>
          <p:cNvSpPr/>
          <p:nvPr/>
        </p:nvSpPr>
        <p:spPr>
          <a:xfrm>
            <a:off x="4473588" y="32918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867248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6324448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470752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EDE9FE"/>
          </a:solidFill>
          <a:ln/>
        </p:spPr>
      </p:sp>
      <p:sp>
        <p:nvSpPr>
          <p:cNvPr id="26" name="Text 24"/>
          <p:cNvSpPr/>
          <p:nvPr/>
        </p:nvSpPr>
        <p:spPr>
          <a:xfrm>
            <a:off x="6470752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Track B · 정밀 판독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507328" y="276148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543904" y="276148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애매·중요 장면만 재분석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507328" y="358444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543904" y="358444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시간·위치·움직임 증거 결합</a:t>
            </a:r>
            <a:endParaRPr lang="en-US" sz="1080" dirty="0"/>
          </a:p>
        </p:txBody>
      </p:sp>
      <p:sp>
        <p:nvSpPr>
          <p:cNvPr id="31" name="Text 29"/>
          <p:cNvSpPr/>
          <p:nvPr/>
        </p:nvSpPr>
        <p:spPr>
          <a:xfrm>
            <a:off x="7352348" y="32918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8746007" y="3044952"/>
            <a:ext cx="457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33" name="Shape 31"/>
          <p:cNvSpPr/>
          <p:nvPr/>
        </p:nvSpPr>
        <p:spPr>
          <a:xfrm>
            <a:off x="9203207" y="2103120"/>
            <a:ext cx="2421560" cy="2286000"/>
          </a:xfrm>
          <a:prstGeom prst="roundRect">
            <a:avLst>
              <a:gd name="adj" fmla="val 4400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349511" y="2249424"/>
            <a:ext cx="2128952" cy="36576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35" name="Text 33"/>
          <p:cNvSpPr/>
          <p:nvPr/>
        </p:nvSpPr>
        <p:spPr>
          <a:xfrm>
            <a:off x="9349511" y="2240280"/>
            <a:ext cx="212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4 · 아침 활동 보고서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9386087" y="276148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22663" y="276148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 시간순 정리</a:t>
            </a:r>
            <a:endParaRPr lang="en-US" sz="1080" dirty="0"/>
          </a:p>
        </p:txBody>
      </p:sp>
      <p:sp>
        <p:nvSpPr>
          <p:cNvPr id="38" name="Shape 36"/>
          <p:cNvSpPr/>
          <p:nvPr/>
        </p:nvSpPr>
        <p:spPr>
          <a:xfrm>
            <a:off x="9386087" y="3584448"/>
            <a:ext cx="205580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422663" y="3584448"/>
            <a:ext cx="198264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08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아침에 보호자에게 전달</a:t>
            </a:r>
            <a:endParaRPr lang="en-US" sz="1080" dirty="0"/>
          </a:p>
        </p:txBody>
      </p:sp>
      <p:sp>
        <p:nvSpPr>
          <p:cNvPr id="40" name="Text 38"/>
          <p:cNvSpPr/>
          <p:nvPr/>
        </p:nvSpPr>
        <p:spPr>
          <a:xfrm>
            <a:off x="10231107" y="3291840"/>
            <a:ext cx="365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500" dirty="0"/>
          </a:p>
        </p:txBody>
      </p:sp>
      <p:sp>
        <p:nvSpPr>
          <p:cNvPr id="41" name="Shape 39"/>
          <p:cNvSpPr/>
          <p:nvPr/>
        </p:nvSpPr>
        <p:spPr>
          <a:xfrm>
            <a:off x="566928" y="4590288"/>
            <a:ext cx="11057839" cy="457200"/>
          </a:xfrm>
          <a:prstGeom prst="roundRect">
            <a:avLst>
              <a:gd name="adj" fmla="val 50000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1248" y="4590288"/>
            <a:ext cx="105091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↻  사람 검수 루프(HITL)</a:t>
            </a:r>
            <a:pPr algn="ctr" indent="0" marL="0">
              <a:buNone/>
            </a:pPr>
            <a:r>
              <a:rPr lang="en-US" sz="1150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—  애매한 결과를 사람이 확인해 다시 학습 데이터로 쌓고, 모델·규칙을 개선한다.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5230368"/>
            <a:ext cx="11057839" cy="868680"/>
          </a:xfrm>
          <a:prstGeom prst="roundRect">
            <a:avLst>
              <a:gd name="adj" fmla="val 12632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978408" y="5431536"/>
            <a:ext cx="1023487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실시간 ‘케어 알림’이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도마뱀이 무엇을 했는지를 아침에 활동 보고서로 정리해 전달한다 — 녹화가 아니라 해석이다.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02 · 실제 데이터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실제 장면을 보면 기술이 바로 이해된다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도마뱀의 실제 행동 장면을 보고, 행동 라벨과 판단 근거를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02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7" name="Image 0" descr="/Users/baek/petcam-lab/docs/ir/assets/rba-example-eating-past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31520" y="2212848"/>
            <a:ext cx="3112922" cy="173736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31520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9" name="Text 6"/>
          <p:cNvSpPr/>
          <p:nvPr/>
        </p:nvSpPr>
        <p:spPr>
          <a:xfrm>
            <a:off x="731520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사료 섭취 · eating_paste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749808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+ 반복 접촉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749808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그릇이 보이고, 혀가 먹이 표면에 반복 접촉해야 섭취로 인정.</a:t>
            </a:r>
            <a:endParaRPr lang="en-US" sz="1080" dirty="0"/>
          </a:p>
        </p:txBody>
      </p:sp>
      <p:sp>
        <p:nvSpPr>
          <p:cNvPr id="12" name="Shape 9"/>
          <p:cNvSpPr/>
          <p:nvPr/>
        </p:nvSpPr>
        <p:spPr>
          <a:xfrm>
            <a:off x="4374794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3" name="Image 1" descr="/Users/baek/petcam-lab/docs/ir/assets/rba-example-eating-prey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39386" y="2212848"/>
            <a:ext cx="3112922" cy="173736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539386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5" name="Text 11"/>
          <p:cNvSpPr/>
          <p:nvPr/>
        </p:nvSpPr>
        <p:spPr>
          <a:xfrm>
            <a:off x="4539386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사냥 · eating_prey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4557674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 보임 + 시선 고정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4557674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먹이가 같은 프레임에 보이고, 몸 방향·시선이 먹이에 고정된 사냥 자세.</a:t>
            </a:r>
            <a:endParaRPr lang="en-US" sz="1080" dirty="0"/>
          </a:p>
        </p:txBody>
      </p:sp>
      <p:sp>
        <p:nvSpPr>
          <p:cNvPr id="18" name="Shape 14"/>
          <p:cNvSpPr/>
          <p:nvPr/>
        </p:nvSpPr>
        <p:spPr>
          <a:xfrm>
            <a:off x="8182661" y="2066544"/>
            <a:ext cx="3442106" cy="3310128"/>
          </a:xfrm>
          <a:prstGeom prst="roundRect">
            <a:avLst>
              <a:gd name="adj" fmla="val 303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pic>
        <p:nvPicPr>
          <p:cNvPr id="19" name="Image 2" descr="/Users/baek/petcam-lab/docs/ir/assets/rba-example-hand-feeding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8347253" y="2212848"/>
            <a:ext cx="3112922" cy="1737360"/>
          </a:xfrm>
          <a:prstGeom prst="rect">
            <a:avLst/>
          </a:prstGeom>
        </p:spPr>
      </p:pic>
      <p:sp>
        <p:nvSpPr>
          <p:cNvPr id="20" name="Shape 15"/>
          <p:cNvSpPr/>
          <p:nvPr/>
        </p:nvSpPr>
        <p:spPr>
          <a:xfrm>
            <a:off x="8347253" y="4078224"/>
            <a:ext cx="3112922" cy="310896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1" name="Text 16"/>
          <p:cNvSpPr/>
          <p:nvPr/>
        </p:nvSpPr>
        <p:spPr>
          <a:xfrm>
            <a:off x="8347253" y="4069080"/>
            <a:ext cx="31129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 · hand_feeding</a:t>
            </a:r>
            <a:endParaRPr lang="en-US" sz="1050" dirty="0"/>
          </a:p>
        </p:txBody>
      </p:sp>
      <p:sp>
        <p:nvSpPr>
          <p:cNvPr id="22" name="Text 17"/>
          <p:cNvSpPr/>
          <p:nvPr/>
        </p:nvSpPr>
        <p:spPr>
          <a:xfrm>
            <a:off x="8365541" y="4498848"/>
            <a:ext cx="307634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손·도구가 직접 전달</a:t>
            </a:r>
            <a:endParaRPr lang="en-US" sz="1400" dirty="0"/>
          </a:p>
        </p:txBody>
      </p:sp>
      <p:sp>
        <p:nvSpPr>
          <p:cNvPr id="23" name="Text 18"/>
          <p:cNvSpPr/>
          <p:nvPr/>
        </p:nvSpPr>
        <p:spPr>
          <a:xfrm>
            <a:off x="8365541" y="4809744"/>
            <a:ext cx="307634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손·도구가 먹이를 직접 전달하고, 받아먹는 장면은 별도 분리.</a:t>
            </a:r>
            <a:endParaRPr lang="en-US" sz="1080" dirty="0"/>
          </a:p>
        </p:txBody>
      </p:sp>
      <p:sp>
        <p:nvSpPr>
          <p:cNvPr id="24" name="Shape 19"/>
          <p:cNvSpPr/>
          <p:nvPr/>
        </p:nvSpPr>
        <p:spPr>
          <a:xfrm>
            <a:off x="566928" y="5486400"/>
            <a:ext cx="11057839" cy="749808"/>
          </a:xfrm>
          <a:prstGeom prst="roundRect">
            <a:avLst>
              <a:gd name="adj" fmla="val 14634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Text 20"/>
          <p:cNvSpPr/>
          <p:nvPr/>
        </p:nvSpPr>
        <p:spPr>
          <a:xfrm>
            <a:off x="978408" y="5687568"/>
            <a:ext cx="1023487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라벨 하나만 남기지 않는다. </a:t>
            </a:r>
            <a:pPr indent="0" marL="0">
              <a:lnSpc>
                <a:spcPct val="118000"/>
              </a:lnSpc>
              <a:buNone/>
            </a:pPr>
            <a:r>
              <a:rPr lang="en-US" sz="13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+ 자기확신 점수 + 판단 근거</a:t>
            </a:r>
            <a:pPr indent="0" marL="0">
              <a:lnSpc>
                <a:spcPct val="118000"/>
              </a:lnSpc>
              <a:buNone/>
            </a:pPr>
            <a:r>
              <a:rPr lang="en-US" sz="13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를 함께 남기고, 이 근거가 다음 정밀 판독·사람 검수의 출발점이 된다.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03 · 빠른 1차 판독 AI (Track A)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판독 AI(Track A)는 모든 움직임을 먼저 훑는다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A는 모든 움직임 클립을 빠르게 훑고, 행동 라벨과 ‘AI 자기확신 점수’를 함께 남긴다.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03 / 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031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487168"/>
            <a:ext cx="14173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2478024"/>
            <a:ext cx="1417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· 음수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148840" y="2487168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0" name="Text 8"/>
          <p:cNvSpPr/>
          <p:nvPr/>
        </p:nvSpPr>
        <p:spPr>
          <a:xfrm>
            <a:off x="2148840" y="2478024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paste · 사료 섭취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017520"/>
            <a:ext cx="233172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008376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 prey · 먹이 사냥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063240" y="3017520"/>
            <a:ext cx="237744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4" name="Text 12"/>
          <p:cNvSpPr/>
          <p:nvPr/>
        </p:nvSpPr>
        <p:spPr>
          <a:xfrm>
            <a:off x="3063240" y="3008376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 feeding · 사람 급여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54787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35387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Shedding · 탈피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2103120" y="3547872"/>
            <a:ext cx="137160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18" name="Text 16"/>
          <p:cNvSpPr/>
          <p:nvPr/>
        </p:nvSpPr>
        <p:spPr>
          <a:xfrm>
            <a:off x="2103120" y="353872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Moving · 이동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639312" y="3547872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F1F5F9"/>
          </a:solidFill>
          <a:ln/>
        </p:spPr>
      </p:sp>
      <p:sp>
        <p:nvSpPr>
          <p:cNvPr id="20" name="Text 18"/>
          <p:cNvSpPr/>
          <p:nvPr/>
        </p:nvSpPr>
        <p:spPr>
          <a:xfrm>
            <a:off x="3639312" y="3538728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Unseen · 미관측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423367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566928" y="4599432"/>
            <a:ext cx="5486400" cy="566928"/>
          </a:xfrm>
          <a:prstGeom prst="roundRect">
            <a:avLst>
              <a:gd name="adj" fmla="val 1290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66928" y="4599432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510528" y="2103120"/>
            <a:ext cx="51142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 자기확신 점수 3단계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510528" y="2487168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739128" y="2596896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 이상 · 명확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6739128" y="2889504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증거가 분명하다. 1차 라벨로 바로 쓴다.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10528" y="3419856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739128" y="3529584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0.6 – 0.8 · 부분적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739128" y="3822192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가림·짧은 장면·일부 증거. 필요하면 정밀 판독으로 넘긴다.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510528" y="4352544"/>
            <a:ext cx="5114239" cy="786384"/>
          </a:xfrm>
          <a:prstGeom prst="roundRect">
            <a:avLst>
              <a:gd name="adj" fmla="val 127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739128" y="4462272"/>
            <a:ext cx="46570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0.5 이하 · 애매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739128" y="4754880"/>
            <a:ext cx="465703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제한된 증거에서의 최선 추정. 정밀 판독·사람 검수 우선.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66928" y="5440680"/>
            <a:ext cx="11057839" cy="896112"/>
          </a:xfrm>
          <a:prstGeom prst="roundRect">
            <a:avLst>
              <a:gd name="adj" fmla="val 12245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978408" y="5641848"/>
            <a:ext cx="10234879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‘AI 자기확신 점수(confidence)’는 정답 확률이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AI가 스스로 매긴 확실성 신호이며, 정밀 판독(Track B)이나 사람 검수로 보낼지 판단하는 데 쓴다.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04 · 판독 매뉴얼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AI에게 주는 행동 판독 체크리스트다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프롬프트는 AI가 행동을 과잉 해석하지 않도록 ‘증거 기준’을 정해주는 판독 매뉴얼이다.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04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86384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입력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86384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60초 움직임 클립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804672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움직임 구간을 프레임으로 샘플링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 정보와 함께 AI에 전달</a:t>
            </a:r>
            <a:endParaRPr lang="en-US" sz="1080" dirty="0"/>
          </a:p>
        </p:txBody>
      </p:sp>
      <p:sp>
        <p:nvSpPr>
          <p:cNvPr id="11" name="Text 9"/>
          <p:cNvSpPr/>
          <p:nvPr/>
        </p:nvSpPr>
        <p:spPr>
          <a:xfrm>
            <a:off x="3029636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3404540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623996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3623996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판독 기준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23996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 7종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3642284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먹이·음수·탈피·이동·미관측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사람 급여는 별도 행동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모호하면 기본값 moving</a:t>
            </a:r>
            <a:endParaRPr lang="en-US" sz="1080" dirty="0"/>
          </a:p>
        </p:txBody>
      </p:sp>
      <p:sp>
        <p:nvSpPr>
          <p:cNvPr id="17" name="Text 15"/>
          <p:cNvSpPr/>
          <p:nvPr/>
        </p:nvSpPr>
        <p:spPr>
          <a:xfrm>
            <a:off x="5867248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6242152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461608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0" name="Text 18"/>
          <p:cNvSpPr/>
          <p:nvPr/>
        </p:nvSpPr>
        <p:spPr>
          <a:xfrm>
            <a:off x="6461608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61608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없으면 판단 금지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6479896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paste는 혀·먹이 반복 접촉 필요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한 지점 반복 핥기</a:t>
            </a:r>
            <a:endParaRPr lang="en-US" sz="1080" dirty="0"/>
          </a:p>
        </p:txBody>
      </p:sp>
      <p:sp>
        <p:nvSpPr>
          <p:cNvPr id="23" name="Text 21"/>
          <p:cNvSpPr/>
          <p:nvPr/>
        </p:nvSpPr>
        <p:spPr>
          <a:xfrm>
            <a:off x="8704859" y="304038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079763" y="2148840"/>
            <a:ext cx="2545004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9299219" y="2368296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6" name="Text 24"/>
          <p:cNvSpPr/>
          <p:nvPr/>
        </p:nvSpPr>
        <p:spPr>
          <a:xfrm>
            <a:off x="9299219" y="235915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299219" y="2807208"/>
            <a:ext cx="21060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4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JSON 결과</a:t>
            </a:r>
            <a:endParaRPr lang="en-US" sz="1450" dirty="0"/>
          </a:p>
        </p:txBody>
      </p:sp>
      <p:sp>
        <p:nvSpPr>
          <p:cNvPr id="28" name="Text 26"/>
          <p:cNvSpPr/>
          <p:nvPr/>
        </p:nvSpPr>
        <p:spPr>
          <a:xfrm>
            <a:off x="9317507" y="3355848"/>
            <a:ext cx="20878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앱과 정밀 판독이 바로 읽는 구조</a:t>
            </a:r>
            <a:endParaRPr lang="en-US" sz="1080" dirty="0"/>
          </a:p>
          <a:p>
            <a:pPr marL="152400" indent="-152400">
              <a:lnSpc>
                <a:spcPct val="102000"/>
              </a:lnSpc>
              <a:spcAft>
                <a:spcPts val="400"/>
              </a:spcAft>
              <a:buSzPct val="100000"/>
              <a:buChar char="•"/>
            </a:pPr>
            <a:r>
              <a:rPr lang="en-US" sz="10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action + confidence + reasoning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66928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4672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1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804672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근처지만 혀 접촉이 안 보이면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eating_paste가 아니라 moving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둔다.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242152" y="4526280"/>
            <a:ext cx="5382616" cy="841248"/>
          </a:xfrm>
          <a:prstGeom prst="roundRect">
            <a:avLst>
              <a:gd name="adj" fmla="val 11957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479896" y="4654296"/>
            <a:ext cx="4925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판정 예시 2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479896" y="4946904"/>
            <a:ext cx="49254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몸이 고정되고 한 지점을 반복해서 핥으면, 물방울이 안 보여도 </a:t>
            </a:r>
            <a:pPr indent="0" marL="0">
              <a:lnSpc>
                <a:spcPct val="105000"/>
              </a:lnSpc>
              <a:buNone/>
            </a:pPr>
            <a:r>
              <a:rPr lang="en-US" sz="12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</a:t>
            </a:r>
            <a:pPr indent="0" marL="0">
              <a:lnSpc>
                <a:spcPct val="105000"/>
              </a:lnSpc>
              <a:buNone/>
            </a:pPr>
            <a:r>
              <a:rPr lang="en-US" sz="12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후보로 본다.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66928" y="5596128"/>
            <a:ext cx="1105783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현재 v4.0 프롬프트는 자체 회귀 평가를 통과해 채택된 1차 판독 기준선이다. (평가 수치는 부록 2)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05 · 정밀 판독 AI (Track B)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판독 AI(Track B)는 애매한 장면을 증거와 함께 다시 본다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애매한 장면을 시간·위치·움직임 같은 ‘판단 재료’와 함께 다시 분석한다.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05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1886543" cy="2734056"/>
          </a:xfrm>
          <a:prstGeom prst="roundRect">
            <a:avLst>
              <a:gd name="adj" fmla="val 4847"/>
            </a:avLst>
          </a:prstGeom>
          <a:solidFill>
            <a:srgbClr val="0F172A"/>
          </a:solidFill>
          <a:ln/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pic>
        <p:nvPicPr>
          <p:cNvPr id="7" name="Image 0" descr="/Users/baek/petcam-lab/docs/ir/assets/rba-example-drinking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6656" y="2258568"/>
            <a:ext cx="1667087" cy="2514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29768" y="4992624"/>
            <a:ext cx="21608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사례 · 물 마시는 결정적 순간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874095" y="2194560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3130127" y="2313432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 · 빠른 1차 판독 (Track A)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3130127" y="2596896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eating_paste(사료 섭취) 후보 — 자기확신 점수 낮음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020831" y="296265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2874095" y="3273552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4" name="Text 11"/>
          <p:cNvSpPr/>
          <p:nvPr/>
        </p:nvSpPr>
        <p:spPr>
          <a:xfrm>
            <a:off x="3130127" y="3392424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 · 정밀 판독 (Track B)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3130127" y="3675888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물그릇 관심 구역(ROI), 머리 위치, 혀 동작을 증거와 함께 재확인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7020831" y="404164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2874095" y="4352544"/>
            <a:ext cx="8750673" cy="786384"/>
          </a:xfrm>
          <a:prstGeom prst="roundRect">
            <a:avLst>
              <a:gd name="adj" fmla="val 1279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3130127" y="4471416"/>
            <a:ext cx="82386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 · 최종 판정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3130127" y="4754880"/>
            <a:ext cx="8238609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 (음수) — 근거와 함께 확정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5440680"/>
            <a:ext cx="11057839" cy="841248"/>
          </a:xfrm>
          <a:prstGeom prst="roundRect">
            <a:avLst>
              <a:gd name="adj" fmla="val 13043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78408" y="5641848"/>
            <a:ext cx="10234879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B는 단순히 ‘더 비싼 AI’가 아니다.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시간·위치·움직임 증거를 결합해 1차 판독의 오판을 바로잡고, 그 결과가 다시 데이터가 된다.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06 · AI 자산 축적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RBA는 데이터가 쌓일수록 더 좋아지는 구조다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라벨과 사람 검수 데이터가 쌓일수록, RBA는 도마뱀 특화 AI로 진화한다.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06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8" name="Text 6"/>
          <p:cNvSpPr/>
          <p:nvPr/>
        </p:nvSpPr>
        <p:spPr>
          <a:xfrm>
            <a:off x="804672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1단계 · RBA 1.0 (현재·베타)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빠른 1차 + 정밀 판독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41248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크레스티드 게코 대상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자동 분석 + 사람 검수로 라벨 품질 향상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앱에서 자동 라벨·밤사이 요약 제공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948074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405274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643018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14" name="Text 12"/>
          <p:cNvSpPr/>
          <p:nvPr/>
        </p:nvSpPr>
        <p:spPr>
          <a:xfrm>
            <a:off x="4643018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2단계 · RBA 1.5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661306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선별적 정밀 분석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4679594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확실한 행동은 1차에서 바로 확정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모호·중요 행동만 정밀 판독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비용과 정확도를 동시에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86421" y="310896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8243621" y="2148840"/>
            <a:ext cx="3381146" cy="2286000"/>
          </a:xfrm>
          <a:prstGeom prst="roundRect">
            <a:avLst>
              <a:gd name="adj" fmla="val 44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481365" y="2386584"/>
            <a:ext cx="2905658" cy="365760"/>
          </a:xfrm>
          <a:prstGeom prst="roundRect">
            <a:avLst>
              <a:gd name="adj" fmla="val 50000"/>
            </a:avLst>
          </a:prstGeom>
          <a:solidFill>
            <a:srgbClr val="1E293B"/>
          </a:solidFill>
          <a:ln/>
        </p:spPr>
      </p:sp>
      <p:sp>
        <p:nvSpPr>
          <p:cNvPr id="20" name="Text 18"/>
          <p:cNvSpPr/>
          <p:nvPr/>
        </p:nvSpPr>
        <p:spPr>
          <a:xfrm>
            <a:off x="8481365" y="2377440"/>
            <a:ext cx="29056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3단계 · RBA 2.0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499653" y="2880360"/>
            <a:ext cx="286908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특화 모델</a:t>
            </a:r>
            <a:endParaRPr lang="en-US" sz="1550" dirty="0"/>
          </a:p>
        </p:txBody>
      </p:sp>
      <p:sp>
        <p:nvSpPr>
          <p:cNvPr id="22" name="Text 20"/>
          <p:cNvSpPr/>
          <p:nvPr/>
        </p:nvSpPr>
        <p:spPr>
          <a:xfrm>
            <a:off x="8517941" y="3319272"/>
            <a:ext cx="285079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자체 서버 + 도마뱀 특화 모델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기반 앙상블로 오판 보정</a:t>
            </a:r>
            <a:endParaRPr lang="en-US" sz="1100" dirty="0"/>
          </a:p>
          <a:p>
            <a:pPr marL="152400" indent="-152400">
              <a:lnSpc>
                <a:spcPct val="102000"/>
              </a:lnSpc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의존도↓ · 단위 비용 통제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4754880"/>
            <a:ext cx="11057839" cy="1234440"/>
          </a:xfrm>
          <a:prstGeom prst="roundRect">
            <a:avLst>
              <a:gd name="adj" fmla="val 8889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978408" y="4956048"/>
            <a:ext cx="1023487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다종 확장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  —  크레스티드 게코를 넘어 인기 파충류·양서류로 분석 대상을 넓힌다.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종이 늘고 데이터가 쌓일수록 그대로 모델 실력이 되는 선순환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이 만들어지고, 이것이 장기 진입장벽이 된다.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07 · 해자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우리의 해자는 영상 AI·특화 모델·사육 규칙의 결합이다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외부 AI 하나를 쓰는 게 아니라 영상 AI·우리 데이터·사육 규칙을 결합하기 때문에, 시간이 갈수록 복제 난이도가 올라간다.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07 / 07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749808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이해하는 AI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VLM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31520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영상을 보고 의미를 해석하는 범용 시각 AI</a:t>
            </a:r>
            <a:endParaRPr lang="en-US" sz="1080" dirty="0"/>
          </a:p>
        </p:txBody>
      </p:sp>
      <p:sp>
        <p:nvSpPr>
          <p:cNvPr id="10" name="Text 8"/>
          <p:cNvSpPr/>
          <p:nvPr/>
        </p:nvSpPr>
        <p:spPr>
          <a:xfrm>
            <a:off x="2915336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3555416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738296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특화 모델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738296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fine-tuned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3720008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라벨 데이터로 학습하는 도마뱀 행동 AI</a:t>
            </a:r>
            <a:endParaRPr lang="en-US" sz="1080" dirty="0"/>
          </a:p>
        </p:txBody>
      </p:sp>
      <p:sp>
        <p:nvSpPr>
          <p:cNvPr id="15" name="Text 13"/>
          <p:cNvSpPr/>
          <p:nvPr/>
        </p:nvSpPr>
        <p:spPr>
          <a:xfrm>
            <a:off x="5903824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16" name="Shape 14"/>
          <p:cNvSpPr/>
          <p:nvPr/>
        </p:nvSpPr>
        <p:spPr>
          <a:xfrm>
            <a:off x="6543904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726784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사육 규칙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726784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 rules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708496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도메인 기준으로 AI 오판을 보정</a:t>
            </a:r>
            <a:endParaRPr lang="en-US" sz="1080" dirty="0"/>
          </a:p>
        </p:txBody>
      </p:sp>
      <p:sp>
        <p:nvSpPr>
          <p:cNvPr id="20" name="Text 18"/>
          <p:cNvSpPr/>
          <p:nvPr/>
        </p:nvSpPr>
        <p:spPr>
          <a:xfrm>
            <a:off x="8892311" y="2948940"/>
            <a:ext cx="384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+</a:t>
            </a:r>
            <a:endParaRPr lang="en-US" sz="2600" dirty="0"/>
          </a:p>
        </p:txBody>
      </p:sp>
      <p:sp>
        <p:nvSpPr>
          <p:cNvPr id="21" name="Shape 19"/>
          <p:cNvSpPr/>
          <p:nvPr/>
        </p:nvSpPr>
        <p:spPr>
          <a:xfrm>
            <a:off x="9532391" y="2194560"/>
            <a:ext cx="2092376" cy="1965960"/>
          </a:xfrm>
          <a:prstGeom prst="roundRect">
            <a:avLst>
              <a:gd name="adj" fmla="val 51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88900" dist="25400" dir="5400000">
              <a:srgbClr val="64748B">
                <a:alpha val="16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9715271" y="2578608"/>
            <a:ext cx="17266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5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9715271" y="3108960"/>
            <a:ext cx="172661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 packet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9696983" y="3419856"/>
            <a:ext cx="17631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시간·ROI·움직임·전후 맥락을 함께 제공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= 최종 행동 판단</a:t>
            </a:r>
            <a:pPr indent="0" marL="0">
              <a:lnSpc>
                <a:spcPct val="118000"/>
              </a:lnSpc>
              <a:buNone/>
            </a:pPr>
            <a:r>
              <a:rPr lang="en-US" sz="8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
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RBA의 핵심 자산은 모델 하나가 아니라, </a:t>
            </a:r>
            <a:pPr indent="0" marL="0">
              <a:lnSpc>
                <a:spcPct val="118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데이터와 사육 맥락이 함께 쌓이는 판단 구조</a:t>
            </a:r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다. 외부 AI를 그대로 가져다 쓰는 경쟁자가 따라오기 어려운 지점이 바로 여기다.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246888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APPENDIX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66928" y="2926080"/>
            <a:ext cx="1105783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· 상세 기술 구조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66928" y="3977640"/>
            <a:ext cx="10515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본문 7장의 근거가 되는 상세 자료 — ① RBA 전체 구조도   ② Track A 프롬프트·평가 수치   ③ 판단 재료 묶음(structured context packet)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1 · 전체 구조도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RBA 1.0 전체 관계도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영상을 행동 타임라인과 아침 활동 보고서로 바꾸는 AI 분석 시스템의 전체 흐름.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01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수집 / 저장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66234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— 전수 1차 라벨링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365541" y="2148840"/>
            <a:ext cx="325922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— 정밀 분석 / 회복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66928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368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카메라 / 자체 HW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RTSP 영상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2013661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66928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Capture Worker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1분 mp4 생성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2013661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66928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8368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Motion Detection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움직임 있는 클립 선별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013661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66928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66928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Supabase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clip metadata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2287981" y="5020056"/>
            <a:ext cx="1538173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287981" y="5074920"/>
            <a:ext cx="15381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0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R2 Storage</a:t>
            </a:r>
            <a:endParaRPr lang="en-US" sz="10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/ 썸네일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66234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57674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 레이어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메타데이터 · ROI · 모션 단서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912968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4466234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EF3C7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57674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· Zero-shot 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top-1 행동 라벨 + confidence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912968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090008" y="4215384"/>
            <a:ext cx="2011680" cy="56692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090008" y="4215384"/>
            <a:ext cx="2011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필요?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7679741" y="4306824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예 →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912968" y="47823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 아니오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8365541" y="2606040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456981" y="2660904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 · SegmentVLM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정밀 분석 진입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9812274" y="315468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5" name="Shape 33"/>
          <p:cNvSpPr/>
          <p:nvPr/>
        </p:nvSpPr>
        <p:spPr>
          <a:xfrm>
            <a:off x="8365541" y="341071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456981" y="3465576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 segment 분해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5~15초 단위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9812274" y="39593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38" name="Shape 36"/>
          <p:cNvSpPr/>
          <p:nvPr/>
        </p:nvSpPr>
        <p:spPr>
          <a:xfrm>
            <a:off x="8365541" y="4215384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F5F3FF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456981" y="4270248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7C3AE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ROI / motion metadata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먹이그릇 · 물그릇 · 은신처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9812274" y="4764024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↓</a:t>
            </a:r>
            <a:endParaRPr lang="en-US" sz="1400" dirty="0"/>
          </a:p>
        </p:txBody>
      </p:sp>
      <p:sp>
        <p:nvSpPr>
          <p:cNvPr id="41" name="Shape 39"/>
          <p:cNvSpPr/>
          <p:nvPr/>
        </p:nvSpPr>
        <p:spPr>
          <a:xfrm>
            <a:off x="8365541" y="5020056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FF6FF"/>
          </a:solidFill>
          <a:ln w="12700">
            <a:solidFill>
              <a:srgbClr val="93C5F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456981" y="5074920"/>
            <a:ext cx="307634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50" b="1" dirty="0">
                <a:solidFill>
                  <a:srgbClr val="2563E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event별 AI 분석 → timeline 병합</a:t>
            </a:r>
            <a:endParaRPr lang="en-US" sz="115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행동 후보 + 시간대 + 검수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566928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66928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HITL · 사람 검수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평가셋 개선 → 모델·룰 개선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44442" y="5971032"/>
            <a:ext cx="6035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BD5E1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</a:t>
            </a:r>
            <a:endParaRPr lang="en-US" sz="1600" dirty="0"/>
          </a:p>
        </p:txBody>
      </p:sp>
      <p:sp>
        <p:nvSpPr>
          <p:cNvPr id="46" name="Shape 44"/>
          <p:cNvSpPr/>
          <p:nvPr/>
        </p:nvSpPr>
        <p:spPr>
          <a:xfrm>
            <a:off x="4466234" y="5971032"/>
            <a:ext cx="3259226" cy="566928"/>
          </a:xfrm>
          <a:prstGeom prst="roundRect">
            <a:avLst>
              <a:gd name="adj" fmla="val 14516"/>
            </a:avLst>
          </a:prstGeom>
          <a:solidFill>
            <a:srgbClr val="D1FAE5"/>
          </a:solidFill>
          <a:ln w="12700">
            <a:solidFill>
              <a:srgbClr val="6EE7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466234" y="5971032"/>
            <a:ext cx="325922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98000"/>
              </a:lnSpc>
              <a:buNone/>
            </a:pPr>
            <a:r>
              <a:rPr lang="en-US" sz="110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사용자 앱 · 아침 활동 보고서</a:t>
            </a:r>
            <a:endParaRPr lang="en-US" sz="1100" dirty="0"/>
          </a:p>
          <a:p>
            <a:pPr algn="ctr" indent="0" marL="0">
              <a:lnSpc>
                <a:spcPct val="98000"/>
              </a:lnSpc>
              <a:buNone/>
            </a:pPr>
            <a:r>
              <a:rPr lang="en-US" sz="88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밤사이 행동을 시간순 정리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2 · 프롬프트 상세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A 프롬프트(v4.0) — 규칙과 평가 수치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프롬프트는 “AI에게 주는 판독 체크리스트”다. 채택 근거가 되는 결정 규칙과 자체 평가 수치를 함께 둔다.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02 / 03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66928" y="214884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결정 규칙 (과잉 해석 방지)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66928" y="2514600"/>
            <a:ext cx="6309360" cy="2148840"/>
          </a:xfrm>
          <a:prstGeom prst="roundRect">
            <a:avLst>
              <a:gd name="adj" fmla="val 468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841248" y="2715768"/>
            <a:ext cx="57607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그릇 근처에 있음 ≠ 먹음 — 위치만으로 feeding 판단 금지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eating_paste는 혀와 먹이 표면의 반복 접촉이 필요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drinking은 몸을 고정하고 한 지점을 반복해 핥는 자세로 판단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hand_feeding(사람 급여)은 다른 행동과 따로 분리</a:t>
            </a:r>
            <a:endParaRPr lang="en-US" sz="1200" dirty="0"/>
          </a:p>
          <a:p>
            <a:pPr marL="177800" indent="-177800">
              <a:lnSpc>
                <a:spcPct val="1050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증거가 모호하면 특정 행동으로 단정하지 말고 이동(moving)을 우선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484632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출력 형식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66928" y="5212080"/>
            <a:ext cx="6309360" cy="548640"/>
          </a:xfrm>
          <a:prstGeom prst="roundRect">
            <a:avLst>
              <a:gd name="adj" fmla="val 13333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49808" y="521208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2400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action, confidence, reasoning }  →  앱·Track B가 바로 읽는 JSON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7242048" y="214884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v4.0 자체 회귀 평가 (채택 기준선)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24204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724204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85.9%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724204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raw 정확도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570568" y="2514600"/>
            <a:ext cx="2054200" cy="1051560"/>
          </a:xfrm>
          <a:prstGeom prst="roundRect">
            <a:avLst>
              <a:gd name="adj" fmla="val 9565"/>
            </a:avLst>
          </a:prstGeom>
          <a:solidFill>
            <a:srgbClr val="FEF9EC"/>
          </a:solidFill>
          <a:ln w="12700">
            <a:solidFill>
              <a:srgbClr val="FCD34D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9570568" y="2606040"/>
            <a:ext cx="2054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92400E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86.5%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9570568" y="3172968"/>
            <a:ext cx="205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급여경계 정확도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42048" y="3840480"/>
            <a:ext cx="438271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confidence의 한계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242048" y="4206240"/>
            <a:ext cx="4382719" cy="1554480"/>
          </a:xfrm>
          <a:prstGeom prst="roundRect">
            <a:avLst>
              <a:gd name="adj" fmla="val 647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98080" y="4361688"/>
            <a:ext cx="387065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2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confidence는 정답 확률에 맞춘 값이 아닌, 모델의 자체 추정값</a:t>
            </a:r>
            <a:endParaRPr lang="en-US" sz="1250" dirty="0"/>
          </a:p>
          <a:p>
            <a:pPr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0.95 이상 구간도 약 76% 정확도에 그쳐, 점수 하나만으로 나누기엔 부족했다.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→ 그래서 정밀 판독(Track B)·사람 검수와 결합해 신뢰도를 끌어올린다.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40233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3 · 판단 재료 묶음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694944"/>
            <a:ext cx="11057839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3000"/>
              </a:lnSpc>
              <a:buNone/>
            </a:pPr>
            <a:r>
              <a:rPr lang="en-US" sz="2700" b="1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판단 재료 묶음(structured context packet)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66928" y="1444752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64748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Track B에서 모델에게 그냥 “이 영상 봐봐”라고 던지는 대신, 영상 주변의 판단 재료를 구조화해 함께 준다.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8424367" y="6419088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부록 03 / 03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5669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412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C2626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✕  나쁜 입력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41248" y="2926080"/>
            <a:ext cx="479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영상에서 도마뱀이 뭐 하고 있어?”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78728" y="2148840"/>
            <a:ext cx="5346040" cy="2148840"/>
          </a:xfrm>
          <a:prstGeom prst="roundRect">
            <a:avLst>
              <a:gd name="adj" fmla="val 4681"/>
            </a:avLst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553048" y="2368296"/>
            <a:ext cx="479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47857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✓  좋은 입력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553048" y="2770632"/>
            <a:ext cx="47974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180" dirty="0">
                <a:solidFill>
                  <a:srgbClr val="1E293B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“이 클립은 03:27에 발생했고, 물그릇 ROI(관심 구역) 근처에서 움직임이 있었고, 개체는 크레스티드 게코이며, 최근 2일간 음수 이벤트가 없었고, 전후 10초 프레임에서 머리가 물그릇 방향으로 이동했다. 이 증거로 drinking / moving / unknown 중 판단하라.”</a:t>
            </a:r>
            <a:endParaRPr lang="en-US" sz="1180" dirty="0"/>
          </a:p>
        </p:txBody>
      </p:sp>
      <p:sp>
        <p:nvSpPr>
          <p:cNvPr id="12" name="Shape 10"/>
          <p:cNvSpPr/>
          <p:nvPr/>
        </p:nvSpPr>
        <p:spPr>
          <a:xfrm>
            <a:off x="566928" y="4617720"/>
            <a:ext cx="11057839" cy="1371600"/>
          </a:xfrm>
          <a:prstGeom prst="roundRect">
            <a:avLst>
              <a:gd name="adj" fmla="val 8000"/>
            </a:avLst>
          </a:prstGeom>
          <a:solidFill>
            <a:srgbClr val="1E293B"/>
          </a:solidFill>
          <a:ln/>
          <a:effectLst>
            <a:outerShdw sx="100000" sy="100000" kx="0" ky="0" algn="bl" rotWithShape="0" blurRad="114300" dist="38100" dir="5400000">
              <a:srgbClr val="94A3B8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978408" y="4818888"/>
            <a:ext cx="10234879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CD34D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정리  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지난 연구에서 검증했다 — 프롬프트만으로는 넘지 못하는 한계가 있었고, 모델에게 ‘볼 수 있는 증거’를 늘렸을 때 비로소 정확도가 올라갔다. 즉 다음 도약은 더 좋은 프롬프트가 아니라 </a:t>
            </a:r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영상 주변의 증거를 구조화해 결합(VLM + 특화 모델 + 사육 규칙 앙상블)</a:t>
            </a:r>
            <a:pPr indent="0" marL="0">
              <a:lnSpc>
                <a:spcPct val="118000"/>
              </a:lnSpc>
              <a:buNone/>
            </a:pPr>
            <a:r>
              <a:rPr lang="en-US" sz="1350" dirty="0">
                <a:solidFill>
                  <a:srgbClr val="E2E8F0"/>
                </a:solidFill>
                <a:latin typeface="Apple SD Gothic Neo" pitchFamily="34" charset="0"/>
                <a:ea typeface="Apple SD Gothic Neo" pitchFamily="34" charset="-122"/>
                <a:cs typeface="Apple SD Gothic Neo" pitchFamily="34" charset="-120"/>
              </a:rPr>
              <a:t>하는 데 있다. 이것이 범용 AI를 그대로 가져다 쓰는 경쟁자가 따라오기 어려운 지점이다.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Terra AI RBA — 파충류 행동 분석 AI (투자자용)</dc:title>
  <dc:subject>PptxGenJS Presentation</dc:subject>
  <dc:creator>Terra AI</dc:creator>
  <cp:lastModifiedBy>Terra AI</cp:lastModifiedBy>
  <cp:revision>1</cp:revision>
  <dcterms:created xsi:type="dcterms:W3CDTF">2026-07-02T07:08:28Z</dcterms:created>
  <dcterms:modified xsi:type="dcterms:W3CDTF">2026-07-02T07:08:28Z</dcterms:modified>
</cp:coreProperties>
</file>