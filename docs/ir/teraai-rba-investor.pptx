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aek/petcam-lab/docs/ir/assets/rba-example-drink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0" y="0"/>
            <a:ext cx="39620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0515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D34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TERRA AI  ·  INVESTOR BRIEF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1554480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밤사이 펫캠 영상을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 일지로 바꾸는 AI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6692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RBA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파충류 행동 분석 AI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66928" y="41605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단순 펫캠 기능이나 고정 알고리즘이 아니라, 밤사이 영상을 행동 타임라인과 아침 활동 보고서로 바꾸는 파충류 특화 AI 분석 엔진.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66928" y="6126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Reptile Behavior Analysis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66560" y="6126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· 분석 파이프라인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RBA 분석 파이프라인 — 영상에서 아침 활동 보고서까지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밤사이 펫캠 영상을 수집 · 1차 판독 · 정밀 판독 3단계로 처리해, 아침 활동 보고서로 전달한다.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424367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본문 01 /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2421560" cy="2286000"/>
          </a:xfrm>
          <a:prstGeom prst="roundRect">
            <a:avLst>
              <a:gd name="adj" fmla="val 44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49424"/>
            <a:ext cx="2128952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240280"/>
            <a:ext cx="212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· 수집 · 저장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2743200"/>
            <a:ext cx="2055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743200"/>
            <a:ext cx="201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카메라 · 밤사이 RTSP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1594828" y="3136392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" y="3282696"/>
            <a:ext cx="2055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3282696"/>
            <a:ext cx="201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움직임 클립 선별 (Motion)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1594828" y="3675888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" y="3822192"/>
            <a:ext cx="2055800" cy="420624"/>
          </a:xfrm>
          <a:prstGeom prst="roundRect">
            <a:avLst>
              <a:gd name="adj" fmla="val 15217"/>
            </a:avLst>
          </a:prstGeom>
          <a:solidFill>
            <a:srgbClr val="ECFDF5"/>
          </a:solidFill>
          <a:ln w="15875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822192"/>
            <a:ext cx="201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gecko-vision-gate · 개체 탐지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2988488" y="30449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445688" y="2103120"/>
            <a:ext cx="2421560" cy="2286000"/>
          </a:xfrm>
          <a:prstGeom prst="roundRect">
            <a:avLst>
              <a:gd name="adj" fmla="val 4400"/>
            </a:avLst>
          </a:prstGeom>
          <a:solidFill>
            <a:srgbClr val="FEF9EC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91992" y="2249424"/>
            <a:ext cx="2128952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0" name="Text 18"/>
          <p:cNvSpPr/>
          <p:nvPr/>
        </p:nvSpPr>
        <p:spPr>
          <a:xfrm>
            <a:off x="3591992" y="2240280"/>
            <a:ext cx="212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· Track A · 1차 판독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28568" y="2743200"/>
            <a:ext cx="2055800" cy="690372"/>
          </a:xfrm>
          <a:prstGeom prst="roundRect">
            <a:avLst>
              <a:gd name="adj" fmla="val 92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46856" y="2743200"/>
            <a:ext cx="2019224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8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Zero-shot VLM 전수 판독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4473588" y="3406140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28568" y="3552444"/>
            <a:ext cx="2055800" cy="690372"/>
          </a:xfrm>
          <a:prstGeom prst="roundRect">
            <a:avLst>
              <a:gd name="adj" fmla="val 92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46856" y="3552444"/>
            <a:ext cx="2019224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8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 라벨 + 자기확신 점수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5867248" y="30449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324448" y="2103120"/>
            <a:ext cx="2421560" cy="2286000"/>
          </a:xfrm>
          <a:prstGeom prst="roundRect">
            <a:avLst>
              <a:gd name="adj" fmla="val 4400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70752" y="2249424"/>
            <a:ext cx="2128952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29" name="Text 27"/>
          <p:cNvSpPr/>
          <p:nvPr/>
        </p:nvSpPr>
        <p:spPr>
          <a:xfrm>
            <a:off x="6470752" y="2240280"/>
            <a:ext cx="212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 · Track B · 정밀 판독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07328" y="2743200"/>
            <a:ext cx="2055800" cy="690372"/>
          </a:xfrm>
          <a:prstGeom prst="roundRect">
            <a:avLst>
              <a:gd name="adj" fmla="val 92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25616" y="2743200"/>
            <a:ext cx="2019224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8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애매·중요 장면만 재분석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7352348" y="3406140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07328" y="3552444"/>
            <a:ext cx="2055800" cy="690372"/>
          </a:xfrm>
          <a:prstGeom prst="roundRect">
            <a:avLst>
              <a:gd name="adj" fmla="val 92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25616" y="3552444"/>
            <a:ext cx="2019224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8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시간·위치·움직임 증거 결합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8746007" y="30449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9203207" y="2103120"/>
            <a:ext cx="2421560" cy="2286000"/>
          </a:xfrm>
          <a:prstGeom prst="roundRect">
            <a:avLst>
              <a:gd name="adj" fmla="val 44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349511" y="2249424"/>
            <a:ext cx="2128952" cy="36576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38" name="Text 36"/>
          <p:cNvSpPr/>
          <p:nvPr/>
        </p:nvSpPr>
        <p:spPr>
          <a:xfrm>
            <a:off x="9349511" y="2240280"/>
            <a:ext cx="212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 · 아침 활동 보고서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386087" y="2743200"/>
            <a:ext cx="2055800" cy="690372"/>
          </a:xfrm>
          <a:prstGeom prst="roundRect">
            <a:avLst>
              <a:gd name="adj" fmla="val 92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04375" y="2743200"/>
            <a:ext cx="2019224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8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밤사이 행동 시간순 정리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10231107" y="3406140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386087" y="3552444"/>
            <a:ext cx="2055800" cy="690372"/>
          </a:xfrm>
          <a:prstGeom prst="roundRect">
            <a:avLst>
              <a:gd name="adj" fmla="val 92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04375" y="3552444"/>
            <a:ext cx="2019224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8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아침에 보호자에게 전달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566928" y="4590288"/>
            <a:ext cx="11057839" cy="4572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" y="4590288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↻  사람 검수 루프(HITL)</a:t>
            </a:r>
            <a:pPr algn="ctr" indent="0" marL="0">
              <a:buNone/>
            </a:pPr>
            <a:r>
              <a:rPr lang="en-US" sz="115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—  애매한 결과를 사람이 확인해 다시 학습 데이터로 쌓고, 모델·규칙을 개선한다.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6928" y="5230368"/>
            <a:ext cx="11057839" cy="868680"/>
          </a:xfrm>
          <a:prstGeom prst="roundRect">
            <a:avLst>
              <a:gd name="adj" fmla="val 1263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78408" y="5431536"/>
            <a:ext cx="102348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CD34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실시간 ‘케어 알림’이 아니다.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밤사이 도마뱀이 무엇을 했는지를 아침에 활동 보고서로 정리해 전달한다 — 녹화가 아니라 해석이다.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· 실제 데이터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장면을 보면 기술이 바로 이해된다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RBA는 도마뱀의 실제 행동 장면을 보고, 행동 라벨과 판단 근거를 함께 남긴다.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424367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본문 02 /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2066544"/>
            <a:ext cx="3442106" cy="3310128"/>
          </a:xfrm>
          <a:prstGeom prst="roundRect">
            <a:avLst>
              <a:gd name="adj" fmla="val 30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pic>
        <p:nvPicPr>
          <p:cNvPr id="7" name="Image 0" descr="/Users/baek/petcam-lab/docs/ir/assets/rba-example-eating-pas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212848"/>
            <a:ext cx="3112922" cy="1737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4078224"/>
            <a:ext cx="3112922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069080"/>
            <a:ext cx="3112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사료 섭취 · eating_paste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808" y="4498848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그릇 + 반복 접촉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" y="4809744"/>
            <a:ext cx="30763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그릇이 보이고, 혀가 먹이 표면에 반복 접촉해야 섭취로 인정.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374794" y="2066544"/>
            <a:ext cx="3442106" cy="3310128"/>
          </a:xfrm>
          <a:prstGeom prst="roundRect">
            <a:avLst>
              <a:gd name="adj" fmla="val 30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pic>
        <p:nvPicPr>
          <p:cNvPr id="13" name="Image 1" descr="/Users/baek/petcam-lab/docs/ir/assets/rba-example-eating-prey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39386" y="2212848"/>
            <a:ext cx="3112922" cy="17373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39386" y="4078224"/>
            <a:ext cx="3112922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5" name="Text 11"/>
          <p:cNvSpPr/>
          <p:nvPr/>
        </p:nvSpPr>
        <p:spPr>
          <a:xfrm>
            <a:off x="4539386" y="4069080"/>
            <a:ext cx="3112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먹이 사냥 · eating_prey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57674" y="4498848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먹이 보임 + 시선 고정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57674" y="4809744"/>
            <a:ext cx="30763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먹이가 같은 프레임에 보이고, 몸 방향·시선이 먹이에 고정된 사냥 자세.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8182661" y="2066544"/>
            <a:ext cx="3442106" cy="3310128"/>
          </a:xfrm>
          <a:prstGeom prst="roundRect">
            <a:avLst>
              <a:gd name="adj" fmla="val 30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pic>
        <p:nvPicPr>
          <p:cNvPr id="19" name="Image 2" descr="/Users/baek/petcam-lab/docs/ir/assets/rba-example-hand-feeding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47253" y="2212848"/>
            <a:ext cx="3112922" cy="173736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347253" y="4078224"/>
            <a:ext cx="3112922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1" name="Text 16"/>
          <p:cNvSpPr/>
          <p:nvPr/>
        </p:nvSpPr>
        <p:spPr>
          <a:xfrm>
            <a:off x="8347253" y="4069080"/>
            <a:ext cx="3112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사람 급여 · hand_feeding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365541" y="4498848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손·도구가 직접 전달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365541" y="4809744"/>
            <a:ext cx="30763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사람 손·도구가 먹이를 직접 전달하고, 받아먹는 장면은 별도 분리.</a:t>
            </a:r>
            <a:endParaRPr lang="en-US" sz="1080" dirty="0"/>
          </a:p>
        </p:txBody>
      </p:sp>
      <p:sp>
        <p:nvSpPr>
          <p:cNvPr id="24" name="Shape 19"/>
          <p:cNvSpPr/>
          <p:nvPr/>
        </p:nvSpPr>
        <p:spPr>
          <a:xfrm>
            <a:off x="566928" y="5486400"/>
            <a:ext cx="11057839" cy="749808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978408" y="5687568"/>
            <a:ext cx="102348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Track A는 라벨 하나만 남기지 않는다. </a:t>
            </a:r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CD34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 + 자기확신 점수 + 판단 근거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를 함께 남기고, 이 근거가 다음 정밀 판독·사람 검수의 출발점이 된다.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· 빠른 1차 판독 AI (Track A)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빠른 1차 판독 AI(Track A)는 모든 움직임을 먼저 훑는다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Track A는 모든 움직임 클립을 빠르게 훑고, 행동 라벨과 ‘AI 자기확신 점수’를 함께 남긴다.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424367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본문 03 / 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 라벨 8종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46888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4597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Drinking · 음수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93976" y="246888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2093976" y="24597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Eating paste · 사료 섭취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92608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9169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Eating prey · 먹이 사냥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08376" y="29260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3008376" y="29169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Hand feeding · 사람 급여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38328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3741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Shedding · 탈피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48256" y="338328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2048256" y="33741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Moving · 이동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29584" y="338328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3529584" y="33741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Unseen · 미관측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384048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FEF9EC"/>
          </a:solidFill>
          <a:ln w="15875">
            <a:solidFill>
              <a:srgbClr val="FCD34D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66928" y="38313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이상행동 · 미구분 행동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44439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형식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4773168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77316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action, confidence, reasoning }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10528" y="2103120"/>
            <a:ext cx="5114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자기확신 점수 3단계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10528" y="2487168"/>
            <a:ext cx="5114239" cy="786384"/>
          </a:xfrm>
          <a:prstGeom prst="roundRect">
            <a:avLst>
              <a:gd name="adj" fmla="val 12791"/>
            </a:avLst>
          </a:prstGeom>
          <a:solidFill>
            <a:srgbClr val="FEF9EC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39128" y="2596896"/>
            <a:ext cx="465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 이상 · 명확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739128" y="2889504"/>
            <a:ext cx="46570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 증거가 분명하다. 1차 라벨로 바로 쓴다.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10528" y="3419856"/>
            <a:ext cx="5114239" cy="786384"/>
          </a:xfrm>
          <a:prstGeom prst="roundRect">
            <a:avLst>
              <a:gd name="adj" fmla="val 127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739128" y="3529584"/>
            <a:ext cx="465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0.6 – 0.8 · 부분적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739128" y="3822192"/>
            <a:ext cx="46570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가림·짧은 장면·일부 증거. 필요하면 정밀 판독으로 넘긴다.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10528" y="4352544"/>
            <a:ext cx="5114239" cy="786384"/>
          </a:xfrm>
          <a:prstGeom prst="roundRect">
            <a:avLst>
              <a:gd name="adj" fmla="val 127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1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739128" y="4462272"/>
            <a:ext cx="465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0.5 이하 · 애매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739128" y="4754880"/>
            <a:ext cx="46570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제한된 증거에서의 최선 추정. 정밀 판독·사람 검수 우선.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" y="5440680"/>
            <a:ext cx="11057839" cy="896112"/>
          </a:xfrm>
          <a:prstGeom prst="roundRect">
            <a:avLst>
              <a:gd name="adj" fmla="val 1224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78408" y="5641848"/>
            <a:ext cx="1023487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CD34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‘AI 자기확신 점수(confidence)’는 정답 확률이 아니다.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스스로 매긴 확실성 신호이며, 정밀 판독(Track B)이나 사람 검수로 보낼지 판단하는 데 쓴다.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· 판독 매뉴얼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프롬프트는 AI에게 주는 행동 판독 체크리스트다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RBA의 프롬프트는 AI가 행동을 과잉 해석하지 않도록 ‘증거 기준’을 정해주는 판독 매뉴얼이다.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424367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본문 04 /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2545004" cy="2148840"/>
          </a:xfrm>
          <a:prstGeom prst="roundRect">
            <a:avLst>
              <a:gd name="adj" fmla="val 46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2368296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3591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2807208"/>
            <a:ext cx="21060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60초 움직임 클립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3355848"/>
            <a:ext cx="20878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밤사이 움직임 구간을 프레임으로 샘플링</a:t>
            </a:r>
            <a:endParaRPr lang="en-US" sz="108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 정보와 함께 AI에 전달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029636" y="30403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04540" y="2148840"/>
            <a:ext cx="2545004" cy="2148840"/>
          </a:xfrm>
          <a:prstGeom prst="roundRect">
            <a:avLst>
              <a:gd name="adj" fmla="val 46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23996" y="2368296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4" name="Text 12"/>
          <p:cNvSpPr/>
          <p:nvPr/>
        </p:nvSpPr>
        <p:spPr>
          <a:xfrm>
            <a:off x="3623996" y="23591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판독 기준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23996" y="2807208"/>
            <a:ext cx="21060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 라벨 8종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42284" y="3355848"/>
            <a:ext cx="20878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먹이·음수·탈피·이동·미관측</a:t>
            </a:r>
            <a:endParaRPr lang="en-US" sz="108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사람 급여는 별도 행동</a:t>
            </a:r>
            <a:endParaRPr lang="en-US" sz="108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모호하면 기본값 moving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867248" y="30403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42152" y="2148840"/>
            <a:ext cx="2545004" cy="2148840"/>
          </a:xfrm>
          <a:prstGeom prst="roundRect">
            <a:avLst>
              <a:gd name="adj" fmla="val 46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61608" y="2368296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0" name="Text 18"/>
          <p:cNvSpPr/>
          <p:nvPr/>
        </p:nvSpPr>
        <p:spPr>
          <a:xfrm>
            <a:off x="6461608" y="23591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결정 규칙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61608" y="2807208"/>
            <a:ext cx="21060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증거 없으면 판단 금지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79896" y="3136392"/>
            <a:ext cx="2087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예시)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79896" y="3429000"/>
            <a:ext cx="20878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그릇 근처에 있음 ≠ 먹음</a:t>
            </a:r>
            <a:endParaRPr lang="en-US" sz="108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paste는 혀·먹이 반복 접촉 필요</a:t>
            </a:r>
            <a:endParaRPr lang="en-US" sz="108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drinking은 한 지점 반복 핥기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704859" y="30403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079763" y="2148840"/>
            <a:ext cx="2545004" cy="2148840"/>
          </a:xfrm>
          <a:prstGeom prst="roundRect">
            <a:avLst>
              <a:gd name="adj" fmla="val 46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99219" y="2368296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9299219" y="23591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99219" y="2807208"/>
            <a:ext cx="21060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JSON 결과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317507" y="3355848"/>
            <a:ext cx="20878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앱과 정밀 판독이 바로 읽는 구조</a:t>
            </a:r>
            <a:endParaRPr lang="en-US" sz="108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action + confidence + reasoning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66928" y="4526280"/>
            <a:ext cx="5382616" cy="841248"/>
          </a:xfrm>
          <a:prstGeom prst="roundRect">
            <a:avLst>
              <a:gd name="adj" fmla="val 11957"/>
            </a:avLst>
          </a:prstGeom>
          <a:solidFill>
            <a:srgbClr val="FEF9E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4654296"/>
            <a:ext cx="492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판정 예시 1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04672" y="4946904"/>
            <a:ext cx="492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먹이그릇 근처지만 혀 접촉이 안 보이면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eating_paste가 아니라 moving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후보로 둔다.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42152" y="4526280"/>
            <a:ext cx="5382616" cy="841248"/>
          </a:xfrm>
          <a:prstGeom prst="roundRect">
            <a:avLst>
              <a:gd name="adj" fmla="val 11957"/>
            </a:avLst>
          </a:prstGeom>
          <a:solidFill>
            <a:srgbClr val="FEF9E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9896" y="4654296"/>
            <a:ext cx="492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판정 예시 2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79896" y="4946904"/>
            <a:ext cx="492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몸이 고정되고 한 지점을 반복해서 핥으면, 물방울이 안 보여도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drinking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후보로 본다.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6928" y="559612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v4.0 프롬프트는 자체 회귀 평가를 통과해 채택된 1차 판독 기준선이다. (평가 수치는 부록 2)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· 정밀 판독 AI (Track B)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정밀 판독 AI(Track B)는 애매한 장면을 증거와 함께 다시 본다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Track B는 애매한 장면을 시간·위치·움직임 같은 ‘판단 재료’와 함께 다시 분석한다.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424367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본문 05 /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1886543" cy="2734056"/>
          </a:xfrm>
          <a:prstGeom prst="roundRect">
            <a:avLst>
              <a:gd name="adj" fmla="val 484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25400" dir="5400000">
              <a:srgbClr val="64748B">
                <a:alpha val="16000"/>
              </a:srgbClr>
            </a:outerShdw>
          </a:effectLst>
        </p:spPr>
      </p:sp>
      <p:pic>
        <p:nvPicPr>
          <p:cNvPr id="7" name="Image 0" descr="/Users/baek/petcam-lab/docs/ir/assets/rba-example-drink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2258568"/>
            <a:ext cx="1667087" cy="2514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9768" y="4992624"/>
            <a:ext cx="21608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drinking 사례 · 물 마시는 결정적 순간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74095" y="2194560"/>
            <a:ext cx="8750673" cy="786384"/>
          </a:xfrm>
          <a:prstGeom prst="roundRect">
            <a:avLst>
              <a:gd name="adj" fmla="val 12791"/>
            </a:avLst>
          </a:prstGeom>
          <a:solidFill>
            <a:srgbClr val="FEF9EC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130127" y="2313432"/>
            <a:ext cx="82386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· 빠른 1차 판독 (Track A)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130127" y="2596896"/>
            <a:ext cx="82386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eating_paste(사료 섭취) 후보 — 자기확신 점수 낮음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020831" y="29626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874095" y="3273552"/>
            <a:ext cx="8750673" cy="786384"/>
          </a:xfrm>
          <a:prstGeom prst="roundRect">
            <a:avLst>
              <a:gd name="adj" fmla="val 12791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130127" y="3392424"/>
            <a:ext cx="82386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· 정밀 판독 (Track B)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130127" y="3675888"/>
            <a:ext cx="82386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물그릇 관심 구역(ROI), 머리 위치, 혀 동작을 증거와 함께 재확인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020831" y="4041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874095" y="4352544"/>
            <a:ext cx="8750673" cy="786384"/>
          </a:xfrm>
          <a:prstGeom prst="roundRect">
            <a:avLst>
              <a:gd name="adj" fmla="val 1279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130127" y="4471416"/>
            <a:ext cx="82386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 · 최종 판정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130127" y="4754880"/>
            <a:ext cx="82386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drinking (음수 행동) — 근거와 함께 확정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5440680"/>
            <a:ext cx="11057839" cy="841248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78408" y="5641848"/>
            <a:ext cx="102348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CD34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Track B는 단순히 ‘더 비싼 AI’가 아니다.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시간·위치·움직임 증거를 결합해 1차 판독의 오판을 바로잡고, 그 결과가 다시 데이터가 된다.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· AI 자산 축적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RBA는 데이터가 쌓일수록 더 좋아지는 구조다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 라벨과 사람 검수 데이터가 쌓일수록, RBA는 도마뱀 특화 AI로 진화한다.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424367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본문 06 /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3381146" cy="2286000"/>
          </a:xfrm>
          <a:prstGeom prst="roundRect">
            <a:avLst>
              <a:gd name="adj" fmla="val 4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386584"/>
            <a:ext cx="2905658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37744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1단계 · RBA 1.0 (현재·베타)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286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빠른 1차 + 정밀 판독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3319272"/>
            <a:ext cx="285079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크레스티드 게코 대상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 분석 + 사람 검수로 라벨 품질 향상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앱에서 자동 라벨·밤사이 요약 제공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48074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405274" y="2148840"/>
            <a:ext cx="3381146" cy="2286000"/>
          </a:xfrm>
          <a:prstGeom prst="roundRect">
            <a:avLst>
              <a:gd name="adj" fmla="val 4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3018" y="2386584"/>
            <a:ext cx="2905658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4643018" y="237744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2단계 · RBA 1.5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1306" y="2880360"/>
            <a:ext cx="286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선별적 정밀 분석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79594" y="3319272"/>
            <a:ext cx="285079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확실한 행동은 1차에서 바로 확정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모호·중요 행동만 정밀 판독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비용과 정확도를 동시에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86421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243621" y="2148840"/>
            <a:ext cx="3381146" cy="2286000"/>
          </a:xfrm>
          <a:prstGeom prst="roundRect">
            <a:avLst>
              <a:gd name="adj" fmla="val 4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81365" y="2386584"/>
            <a:ext cx="2905658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8481365" y="237744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3단계 · RBA 2.0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99653" y="2880360"/>
            <a:ext cx="286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자체 특화 모델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517941" y="3319272"/>
            <a:ext cx="285079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자체 서버 + 도마뱀 특화 모델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증거 기반 앙상블로 오판 보정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AI 의존도↓ · 단위 비용 통제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4754880"/>
            <a:ext cx="11057839" cy="12344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78408" y="4956048"/>
            <a:ext cx="102348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CD34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다종 확장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—  크레스티드 게코를 넘어 인기 파충류·양서류로 분석 대상을 넓힌다. </a:t>
            </a:r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종이 늘고 데이터가 쌓일수록 그대로 모델 실력이 되는 선순환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만들어지고, 이것이 장기 진입장벽이 된다.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 · 기술 경쟁력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 AI·특화 모델과 IoT사육장 데이터의 결합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AI 하나를 쓰는 게 아니라 영상 AI·IoT 데이터·규칙을 결합하기 때문에, 시간이 갈수록 복제 난이도가 올라간다.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424367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본문 07 / 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209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누구나 쓰는 공통 기술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55416" y="2029968"/>
            <a:ext cx="80693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우리만 쌓이는 독점 자산</a:t>
            </a:r>
            <a:pPr algn="ctr" indent="0" marL="0">
              <a:buNone/>
            </a:pPr>
            <a:r>
              <a:rPr lang="en-US" sz="110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·  데이터가 쌓일수록 강해진다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414016"/>
            <a:ext cx="2092376" cy="2139696"/>
          </a:xfrm>
          <a:prstGeom prst="roundRect">
            <a:avLst>
              <a:gd name="adj" fmla="val 480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651760"/>
            <a:ext cx="1799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영상을 이해하는 AI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3310128"/>
            <a:ext cx="172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3602736"/>
            <a:ext cx="1799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영상을 보고 의미를 읽는 범용 시각 AI — 누구나 쓸 수 있는 공통 기술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2915336" y="325526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555416" y="2414016"/>
            <a:ext cx="2092376" cy="2139696"/>
          </a:xfrm>
          <a:prstGeom prst="roundRect">
            <a:avLst>
              <a:gd name="adj" fmla="val 4807"/>
            </a:avLst>
          </a:prstGeom>
          <a:solidFill>
            <a:srgbClr val="ECFDF5"/>
          </a:solidFill>
          <a:ln w="15875">
            <a:solidFill>
              <a:srgbClr val="6EE7B7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01720" y="2651760"/>
            <a:ext cx="1799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쌓이는 행동 데이터 · 특화 모델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38296" y="3310128"/>
            <a:ext cx="172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fine-tuned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01720" y="3602736"/>
            <a:ext cx="1799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라벨·사람 검수가 쌓일수록 정확도가 오르는 도마뱀 특화 AI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903824" y="325526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543904" y="2414016"/>
            <a:ext cx="2092376" cy="2139696"/>
          </a:xfrm>
          <a:prstGeom prst="roundRect">
            <a:avLst>
              <a:gd name="adj" fmla="val 4807"/>
            </a:avLst>
          </a:prstGeom>
          <a:solidFill>
            <a:srgbClr val="EFF6FF"/>
          </a:solidFill>
          <a:ln w="15875">
            <a:solidFill>
              <a:srgbClr val="93C5FD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90208" y="2651760"/>
            <a:ext cx="1799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IoT 사육장 데이터 결합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26784" y="3310128"/>
            <a:ext cx="172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 fusion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90208" y="3602736"/>
            <a:ext cx="1799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온·습도·급이·조명 기록까지 결합해 영상 밖 정황증거로 함께 본다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892311" y="325526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9532391" y="2414016"/>
            <a:ext cx="2092376" cy="2139696"/>
          </a:xfrm>
          <a:prstGeom prst="roundRect">
            <a:avLst>
              <a:gd name="adj" fmla="val 4807"/>
            </a:avLst>
          </a:prstGeom>
          <a:solidFill>
            <a:srgbClr val="F5F3FF"/>
          </a:solidFill>
          <a:ln w="15875">
            <a:solidFill>
              <a:srgbClr val="C4B5FD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78695" y="2651760"/>
            <a:ext cx="1799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사육 도메인 규칙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715271" y="3310128"/>
            <a:ext cx="172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rules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78695" y="3602736"/>
            <a:ext cx="1799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급이·탈피 주기 같은 사육 상식으로 AI의 명백한 오판을 걸러낸다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566928" y="4754880"/>
            <a:ext cx="11057839" cy="1225296"/>
          </a:xfrm>
          <a:prstGeom prst="roundRect">
            <a:avLst>
              <a:gd name="adj" fmla="val 89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78408" y="4956048"/>
            <a:ext cx="1023487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CD34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결합의 결과</a:t>
            </a:r>
            <a:pPr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
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데이터가 쌓일수록 정확도가 오르고, ② 영상 밖 IoT 정황증거까지 더해 오판이 줄어든다.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AI 하나를 가져다 쓰는 경쟁자는 이 축적을 복제할 수 없다.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4688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CD34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APPENDIX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66928" y="29260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부록 · 상세 기술 구조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977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본문 7장의 근거가 되는 상세 자료 — ① RBA 전체 구조도   ② Track A 프롬프트·평가 수치   ③ 판단 재료 묶음(structured context packet)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부록 1 · 전체 구조도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RBA 1.0 전체 관계도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밤사이 RTSP 영상을 행동 타임라인과 아침 활동 보고서로 바꾸는 AI 분석 시스템의 전체 흐름.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424367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부록 01 /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32592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수집 / 저장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66234" y="2103120"/>
            <a:ext cx="32592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Track A · 전수 1차 판독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65541" y="2103120"/>
            <a:ext cx="32592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Track B · 정밀 판독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523744"/>
            <a:ext cx="3259226" cy="566928"/>
          </a:xfrm>
          <a:prstGeom prst="roundRect">
            <a:avLst>
              <a:gd name="adj" fmla="val 145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78608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카메라 / 자체 HW</a:t>
            </a:r>
            <a:endParaRPr lang="en-US" sz="11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밤사이 RTSP 영상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310128"/>
            <a:ext cx="3259226" cy="566928"/>
          </a:xfrm>
          <a:prstGeom prst="roundRect">
            <a:avLst>
              <a:gd name="adj" fmla="val 145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64992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Capture Worker</a:t>
            </a:r>
            <a:endParaRPr lang="en-US" sz="11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1분 mp4 생성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4096512"/>
            <a:ext cx="3259226" cy="566928"/>
          </a:xfrm>
          <a:prstGeom prst="roundRect">
            <a:avLst>
              <a:gd name="adj" fmla="val 14516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151376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Motion Detection</a:t>
            </a:r>
            <a:endParaRPr lang="en-US" sz="11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움직임 있는 클립 선별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882896"/>
            <a:ext cx="1538173" cy="566928"/>
          </a:xfrm>
          <a:prstGeom prst="roundRect">
            <a:avLst>
              <a:gd name="adj" fmla="val 14516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937760"/>
            <a:ext cx="15381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Supabase</a:t>
            </a:r>
            <a:endParaRPr lang="en-US" sz="10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clip metadata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7981" y="4882896"/>
            <a:ext cx="1538173" cy="566928"/>
          </a:xfrm>
          <a:prstGeom prst="roundRect">
            <a:avLst>
              <a:gd name="adj" fmla="val 14516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7981" y="4937760"/>
            <a:ext cx="15381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R2 Storage</a:t>
            </a:r>
            <a:endParaRPr lang="en-US" sz="10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 / 썸네일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96541" y="3090672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196541" y="3877056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196541" y="4663440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466234" y="2523744"/>
            <a:ext cx="3259226" cy="566928"/>
          </a:xfrm>
          <a:prstGeom prst="roundRect">
            <a:avLst>
              <a:gd name="adj" fmla="val 14516"/>
            </a:avLst>
          </a:prstGeom>
          <a:solidFill>
            <a:srgbClr val="FEF9E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39386" y="2578608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증거 레이어</a:t>
            </a:r>
            <a:endParaRPr lang="en-US" sz="11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메타데이터 · ROI · 모션 단서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66234" y="3310128"/>
            <a:ext cx="3259226" cy="566928"/>
          </a:xfrm>
          <a:prstGeom prst="roundRect">
            <a:avLst>
              <a:gd name="adj" fmla="val 1451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9386" y="3364992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Track A · Zero-shot VLM</a:t>
            </a:r>
            <a:endParaRPr lang="en-US" sz="11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top-1 행동 라벨 + confidence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95848" y="3090672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95848" y="3877056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952848" y="4096512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2400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2848" y="40965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정밀 분석이 필요한가?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65541" y="2523744"/>
            <a:ext cx="3259226" cy="566928"/>
          </a:xfrm>
          <a:prstGeom prst="roundRect">
            <a:avLst>
              <a:gd name="adj" fmla="val 14516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38693" y="2578608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Track B · SegmentVLM</a:t>
            </a:r>
            <a:endParaRPr lang="en-US" sz="11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정밀 분석 진입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65541" y="3310128"/>
            <a:ext cx="3259226" cy="566928"/>
          </a:xfrm>
          <a:prstGeom prst="roundRect">
            <a:avLst>
              <a:gd name="adj" fmla="val 14516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38693" y="3364992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event segment 분해</a:t>
            </a:r>
            <a:endParaRPr lang="en-US" sz="11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5~15초 단위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65541" y="4096512"/>
            <a:ext cx="3259226" cy="566928"/>
          </a:xfrm>
          <a:prstGeom prst="roundRect">
            <a:avLst>
              <a:gd name="adj" fmla="val 14516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38693" y="4151376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ROI · motion metadata</a:t>
            </a:r>
            <a:endParaRPr lang="en-US" sz="11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먹이그릇 · 물그릇 · 은신처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365541" y="4882896"/>
            <a:ext cx="3259226" cy="566928"/>
          </a:xfrm>
          <a:prstGeom prst="roundRect">
            <a:avLst>
              <a:gd name="adj" fmla="val 14516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38693" y="4937760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event별 분석 → timeline 병합</a:t>
            </a:r>
            <a:endParaRPr lang="en-US" sz="11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 후보 + 시간대 + 검수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995154" y="3090672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995154" y="3877056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995154" y="4663440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826154" y="51663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4146194" y="2807208"/>
            <a:ext cx="0" cy="235915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4146194" y="2807208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238848" y="4379976"/>
            <a:ext cx="806653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8045501" y="2807208"/>
            <a:ext cx="0" cy="1572768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8045501" y="2807208"/>
            <a:ext cx="32004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7284568" y="40965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 · 정밀 필요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466234" y="5724144"/>
            <a:ext cx="7158533" cy="54864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66234" y="5724144"/>
            <a:ext cx="71585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아침 활동 보고서</a:t>
            </a:r>
            <a:endParaRPr lang="en-US" sz="11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밤사이 행동을 시간순으로 정리해 앱으로 전달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095848" y="4663440"/>
            <a:ext cx="0" cy="106070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6205576" y="50749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아니오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995154" y="5449824"/>
            <a:ext cx="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66928" y="5724144"/>
            <a:ext cx="3259226" cy="548640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" y="5724144"/>
            <a:ext cx="32592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HITL · 사람 검수 루프</a:t>
            </a:r>
            <a:endParaRPr lang="en-US" sz="11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애매한 결과 검수 → 학습 데이터·룰 개선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826154" y="5998464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부록 2 · 프롬프트 상세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Track A 프롬프트(v4.0) — 규칙과 평가 수치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프롬프트는 “AI에게 주는 판독 체크리스트”다. 채택 근거가 되는 결정 규칙과 자체 평가 수치를 함께 둔다.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424367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부록 02 /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21488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결정 규칙 (과잉 해석 방지)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514600"/>
            <a:ext cx="6309360" cy="2148840"/>
          </a:xfrm>
          <a:prstGeom prst="roundRect">
            <a:avLst>
              <a:gd name="adj" fmla="val 46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715768"/>
            <a:ext cx="5760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그릇 근처에 있음 ≠ 먹음 — 위치만으로 feeding 판단 금지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eating_paste는 혀와 먹이 표면의 반복 접촉이 필요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drinking은 몸을 고정하고 한 지점을 반복해 핥는 자세로 판단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hand_feeding(사람 급여)은 다른 행동과 따로 분리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증거가 모호하면 특정 행동으로 단정하지 말고 이동(moving)을 우선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4846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형식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5212080"/>
            <a:ext cx="630936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52120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action, confidence, reasoning }  →  앱·Track B가 바로 읽는 JSON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242048" y="2148840"/>
            <a:ext cx="4382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v4.0 자체 회귀 평가 (채택 기준선)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42048" y="2514600"/>
            <a:ext cx="2054200" cy="1051560"/>
          </a:xfrm>
          <a:prstGeom prst="roundRect">
            <a:avLst>
              <a:gd name="adj" fmla="val 9565"/>
            </a:avLst>
          </a:prstGeom>
          <a:solidFill>
            <a:srgbClr val="FEF9EC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42048" y="2606040"/>
            <a:ext cx="205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85.9%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242048" y="3172968"/>
            <a:ext cx="205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raw 정확도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70568" y="2514600"/>
            <a:ext cx="2054200" cy="1051560"/>
          </a:xfrm>
          <a:prstGeom prst="roundRect">
            <a:avLst>
              <a:gd name="adj" fmla="val 9565"/>
            </a:avLst>
          </a:prstGeom>
          <a:solidFill>
            <a:srgbClr val="FEF9EC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70568" y="2606040"/>
            <a:ext cx="205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86.5%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570568" y="3172968"/>
            <a:ext cx="205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급여경계 정확도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42048" y="3840480"/>
            <a:ext cx="4382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confidence의 한계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42048" y="4206240"/>
            <a:ext cx="4382719" cy="1554480"/>
          </a:xfrm>
          <a:prstGeom prst="roundRect">
            <a:avLst>
              <a:gd name="adj" fmla="val 6471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4361688"/>
            <a:ext cx="3870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DC26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confidence는 정답 확률에 맞춘 값이 아닌, 모델의 자체 추정값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0.95 이상 구간도 약 76% 정확도에 그쳐, 점수 하나만으로 나누기엔 부족했다.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그래서 정밀 판독(Track B)·사람 검수와 결합해 신뢰도를 끌어올린다.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부록 3 · 판단 재료 묶음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판단 재료 묶음(structured context packet)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Track B에서 모델에게 그냥 “이 영상 봐봐”라고 던지는 대신, 영상 주변의 판단 재료를 구조화해 함께 준다.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424367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부록 03 / 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5346040" cy="2148840"/>
          </a:xfrm>
          <a:prstGeom prst="roundRect">
            <a:avLst>
              <a:gd name="adj" fmla="val 4681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36829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26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✕  나쁜 입력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926080"/>
            <a:ext cx="479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“이 영상에서 도마뱀이 뭐 하고 있어?”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78728" y="2148840"/>
            <a:ext cx="5346040" cy="2148840"/>
          </a:xfrm>
          <a:prstGeom prst="roundRect">
            <a:avLst>
              <a:gd name="adj" fmla="val 468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53048" y="236829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  좋은 입력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53048" y="2770632"/>
            <a:ext cx="479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“이 클립은 03:27에 발생했고, 물그릇 ROI(관심 구역) 근처에서 움직임이 있었고, 개체는 크레스티드 게코이며, 최근 2일간 음수 이벤트가 없었고, 전후 10초 프레임에서 머리가 물그릇 방향으로 이동했다. 이 증거로 drinking / moving / unknown 중 판단하라.”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566928" y="4617720"/>
            <a:ext cx="11057839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94A3B8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78408" y="4818888"/>
            <a:ext cx="1023487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CD34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정리 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지난 연구에서 검증했다 — 프롬프트만으로는 넘지 못하는 한계가 있었고, 모델에게 ‘볼 수 있는 증거’를 늘렸을 때 비로소 정확도가 올라갔다. 즉 다음 도약은 더 좋은 프롬프트가 아니라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 주변의 증거를 구조화해 결합(VLM + 특화 모델 + 사육 규칙 앙상블)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하는 데 있다. 이것이 범용 AI를 그대로 가져다 쓰는 경쟁자가 따라오기 어려운 지점이다.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 AI RBA — 파충류 행동 분석 AI (투자자용)</dc:title>
  <dc:subject>PptxGenJS Presentation</dc:subject>
  <dc:creator>Terra AI</dc:creator>
  <cp:lastModifiedBy>Terra AI</cp:lastModifiedBy>
  <cp:revision>1</cp:revision>
  <dcterms:created xsi:type="dcterms:W3CDTF">2026-07-02T09:35:50Z</dcterms:created>
  <dcterms:modified xsi:type="dcterms:W3CDTF">2026-07-02T09:35:50Z</dcterms:modified>
</cp:coreProperties>
</file>